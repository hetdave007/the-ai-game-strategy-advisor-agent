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r+5khzB2b6LUxNFBnfr0zmCt5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588476-3ACD-48F3-9DB0-A8A72A590F66}">
  <a:tblStyle styleId="{81588476-3ACD-48F3-9DB0-A8A72A590F6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07" y="2776715"/>
          <a:ext cx="3000000" cy="3000000"/>
        </p:xfrm>
        <a:graphic>
          <a:graphicData uri="http://schemas.openxmlformats.org/drawingml/2006/table">
            <a:tbl>
              <a:tblPr>
                <a:noFill/>
                <a:tableStyleId>{81588476-3ACD-48F3-9DB0-A8A72A590F66}</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sz="2000"/>
                        <a:t>Dave Hetkumar Harshadbhai</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hhdave2012@gmail.com</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7096032566</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i="0" lang="en-US" sz="2400" u="none" cap="none" strike="noStrike">
                <a:solidFill>
                  <a:srgbClr val="000000"/>
                </a:solidFill>
                <a:highlight>
                  <a:schemeClr val="lt1"/>
                </a:highlight>
                <a:latin typeface="Arial"/>
                <a:ea typeface="Arial"/>
                <a:cs typeface="Arial"/>
                <a:sym typeface="Arial"/>
              </a:rPr>
              <a:t>Sports Analytics / Sports Technology</a:t>
            </a:r>
            <a:endParaRPr b="1" i="0" sz="2400" u="none" cap="none" strike="noStrike">
              <a:solidFill>
                <a:srgbClr val="000000"/>
              </a:solidFill>
              <a:highlight>
                <a:schemeClr val="lt1"/>
              </a:highlight>
              <a:latin typeface="Arial"/>
              <a:ea typeface="Arial"/>
              <a:cs typeface="Arial"/>
              <a:sym typeface="Arial"/>
            </a:endParaRPr>
          </a:p>
        </p:txBody>
      </p:sp>
      <p:sp>
        <p:nvSpPr>
          <p:cNvPr id="88" name="Google Shape;88;p2"/>
          <p:cNvSpPr txBox="1"/>
          <p:nvPr/>
        </p:nvSpPr>
        <p:spPr>
          <a:xfrm>
            <a:off x="1206162" y="551965"/>
            <a:ext cx="9581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i="0" lang="en-US" sz="2400" u="none" cap="none" strike="noStrike">
                <a:solidFill>
                  <a:srgbClr val="002060"/>
                </a:solidFill>
                <a:highlight>
                  <a:schemeClr val="lt1"/>
                </a:highlight>
                <a:latin typeface="Times New Roman"/>
                <a:ea typeface="Times New Roman"/>
                <a:cs typeface="Times New Roman"/>
                <a:sym typeface="Times New Roman"/>
              </a:rPr>
              <a:t>The AI Game Strategy Advisor Agent</a:t>
            </a:r>
            <a:endParaRPr b="1" i="0" sz="2400" u="none" cap="none" strike="noStrike">
              <a:solidFill>
                <a:srgbClr val="000000"/>
              </a:solidFill>
              <a:highlight>
                <a:schemeClr val="lt1"/>
              </a:highlight>
              <a:latin typeface="Arial"/>
              <a:ea typeface="Arial"/>
              <a:cs typeface="Arial"/>
              <a:sym typeface="Arial"/>
            </a:endParaRPr>
          </a:p>
        </p:txBody>
      </p:sp>
      <p:sp>
        <p:nvSpPr>
          <p:cNvPr id="89" name="Google Shape;89;p2"/>
          <p:cNvSpPr txBox="1"/>
          <p:nvPr/>
        </p:nvSpPr>
        <p:spPr>
          <a:xfrm>
            <a:off x="1211005" y="5210667"/>
            <a:ext cx="645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90" name="Google Shape;90;p2"/>
          <p:cNvPicPr preferRelativeResize="0"/>
          <p:nvPr/>
        </p:nvPicPr>
        <p:blipFill>
          <a:blip r:embed="rId3">
            <a:alphaModFix/>
          </a:blip>
          <a:stretch>
            <a:fillRect/>
          </a:stretch>
        </p:blipFill>
        <p:spPr>
          <a:xfrm>
            <a:off x="4219475" y="3749950"/>
            <a:ext cx="913856" cy="11938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4"/>
          <p:cNvSpPr txBox="1"/>
          <p:nvPr/>
        </p:nvSpPr>
        <p:spPr>
          <a:xfrm>
            <a:off x="576072" y="1234440"/>
            <a:ext cx="10607040"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The AI Game Strategy Advisor Agent</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Modern sports teams rely heavily on strategy and tactical planning. However, </a:t>
            </a:r>
            <a:r>
              <a:rPr b="1" i="0" lang="en-US" sz="1400" u="none" cap="none" strike="noStrike">
                <a:solidFill>
                  <a:srgbClr val="000000"/>
                </a:solidFill>
                <a:latin typeface="Arial"/>
                <a:ea typeface="Arial"/>
                <a:cs typeface="Arial"/>
                <a:sym typeface="Arial"/>
              </a:rPr>
              <a:t>analyzing past matches, opponent strategies, and player performance patterns</a:t>
            </a:r>
            <a:r>
              <a:rPr b="0" i="0" lang="en-US" sz="1400" u="none" cap="none" strike="noStrike">
                <a:solidFill>
                  <a:srgbClr val="000000"/>
                </a:solidFill>
                <a:latin typeface="Arial"/>
                <a:ea typeface="Arial"/>
                <a:cs typeface="Arial"/>
                <a:sym typeface="Arial"/>
              </a:rPr>
              <a:t> requires extensive manual work by analysts and coaching staff. Many teams lack </a:t>
            </a:r>
            <a:r>
              <a:rPr b="1" i="0" lang="en-US" sz="1400" u="none" cap="none" strike="noStrike">
                <a:solidFill>
                  <a:srgbClr val="000000"/>
                </a:solidFill>
                <a:latin typeface="Arial"/>
                <a:ea typeface="Arial"/>
                <a:cs typeface="Arial"/>
                <a:sym typeface="Arial"/>
              </a:rPr>
              <a:t>tools that can quickly analyze historical gameplay data</a:t>
            </a:r>
            <a:r>
              <a:rPr b="0" i="0" lang="en-US" sz="1400" u="none" cap="none" strike="noStrike">
                <a:solidFill>
                  <a:srgbClr val="000000"/>
                </a:solidFill>
                <a:latin typeface="Arial"/>
                <a:ea typeface="Arial"/>
                <a:cs typeface="Arial"/>
                <a:sym typeface="Arial"/>
              </a:rPr>
              <a:t> and generate strategic insights.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Build an </a:t>
            </a:r>
            <a:r>
              <a:rPr b="1" i="0" lang="en-US" sz="1400" u="none" cap="none" strike="noStrike">
                <a:solidFill>
                  <a:srgbClr val="000000"/>
                </a:solidFill>
                <a:latin typeface="Arial"/>
                <a:ea typeface="Arial"/>
                <a:cs typeface="Arial"/>
                <a:sym typeface="Arial"/>
              </a:rPr>
              <a:t>AI-powered Game Strategy Advisor Agent</a:t>
            </a:r>
            <a:r>
              <a:rPr b="0" i="0" lang="en-US" sz="1400" u="none" cap="none" strike="noStrike">
                <a:solidFill>
                  <a:srgbClr val="000000"/>
                </a:solidFill>
                <a:latin typeface="Arial"/>
                <a:ea typeface="Arial"/>
                <a:cs typeface="Arial"/>
                <a:sym typeface="Arial"/>
              </a:rPr>
              <a:t> that analyzes previous match data, team formations, and opponent strategies to </a:t>
            </a:r>
            <a:r>
              <a:rPr b="1" i="0" lang="en-US" sz="1400" u="none" cap="none" strike="noStrike">
                <a:solidFill>
                  <a:srgbClr val="000000"/>
                </a:solidFill>
                <a:latin typeface="Arial"/>
                <a:ea typeface="Arial"/>
                <a:cs typeface="Arial"/>
                <a:sym typeface="Arial"/>
              </a:rPr>
              <a:t>recommend optimized game plans</a:t>
            </a:r>
            <a:r>
              <a:rPr b="0" i="0" lang="en-US" sz="1400" u="none" cap="none" strike="noStrike">
                <a:solidFill>
                  <a:srgbClr val="000000"/>
                </a:solidFill>
                <a:latin typeface="Arial"/>
                <a:ea typeface="Arial"/>
                <a:cs typeface="Arial"/>
                <a:sym typeface="Arial"/>
              </a:rPr>
              <a:t>. The solution should: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Match Data Analysis (RAG)</a:t>
            </a:r>
            <a:r>
              <a:rPr b="0" i="0" lang="en-US" sz="1400" u="none" cap="none" strike="noStrike">
                <a:solidFill>
                  <a:srgbClr val="000000"/>
                </a:solidFill>
                <a:latin typeface="Arial"/>
                <a:ea typeface="Arial"/>
                <a:cs typeface="Arial"/>
                <a:sym typeface="Arial"/>
              </a:rPr>
              <a:t> – Retrieve historical match data, formations, and tactical patterns.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Opponent Strategy Analysis</a:t>
            </a:r>
            <a:r>
              <a:rPr b="0" i="0" lang="en-US" sz="1400" u="none" cap="none" strike="noStrike">
                <a:solidFill>
                  <a:srgbClr val="000000"/>
                </a:solidFill>
                <a:latin typeface="Arial"/>
                <a:ea typeface="Arial"/>
                <a:cs typeface="Arial"/>
                <a:sym typeface="Arial"/>
              </a:rPr>
              <a:t> – Detect patterns in opponent play styles, strengths, and weaknesses.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Tactical Recommendation Engine</a:t>
            </a:r>
            <a:r>
              <a:rPr b="0" i="0" lang="en-US" sz="1400" u="none" cap="none" strike="noStrike">
                <a:solidFill>
                  <a:srgbClr val="000000"/>
                </a:solidFill>
                <a:latin typeface="Arial"/>
                <a:ea typeface="Arial"/>
                <a:cs typeface="Arial"/>
                <a:sym typeface="Arial"/>
              </a:rPr>
              <a:t> – Suggest optimal strategies such as formations, defensive setups, or attacking tactics.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Real-Time Strategic Insights</a:t>
            </a:r>
            <a:r>
              <a:rPr b="0" i="0" lang="en-US" sz="1400" u="none" cap="none" strike="noStrike">
                <a:solidFill>
                  <a:srgbClr val="000000"/>
                </a:solidFill>
                <a:latin typeface="Arial"/>
                <a:ea typeface="Arial"/>
                <a:cs typeface="Arial"/>
                <a:sym typeface="Arial"/>
              </a:rPr>
              <a:t> – Provide quick recommendations before or during matches.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Multi-Agent System</a:t>
            </a:r>
            <a:r>
              <a:rPr b="0" i="0" lang="en-US" sz="1400" u="none" cap="none" strike="noStrike">
                <a:solidFill>
                  <a:srgbClr val="000000"/>
                </a:solidFill>
                <a:latin typeface="Arial"/>
                <a:ea typeface="Arial"/>
                <a:cs typeface="Arial"/>
                <a:sym typeface="Arial"/>
              </a:rPr>
              <a:t> –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Match Analysis Agent</a:t>
            </a:r>
            <a:r>
              <a:rPr b="0" i="0" lang="en-US" sz="1400" u="none" cap="none" strike="noStrike">
                <a:solidFill>
                  <a:srgbClr val="000000"/>
                </a:solidFill>
                <a:latin typeface="Arial"/>
                <a:ea typeface="Arial"/>
                <a:cs typeface="Arial"/>
                <a:sym typeface="Arial"/>
              </a:rPr>
              <a:t> (analyzes historical gameplay data)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Opponent Strategy Agent</a:t>
            </a:r>
            <a:r>
              <a:rPr b="0" i="0" lang="en-US" sz="1400" u="none" cap="none" strike="noStrike">
                <a:solidFill>
                  <a:srgbClr val="000000"/>
                </a:solidFill>
                <a:latin typeface="Arial"/>
                <a:ea typeface="Arial"/>
                <a:cs typeface="Arial"/>
                <a:sym typeface="Arial"/>
              </a:rPr>
              <a:t> (identifies tactical patterns used by opposing teams)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Strategy Recommendation Agent</a:t>
            </a:r>
            <a:r>
              <a:rPr b="0" i="0" lang="en-US" sz="1400" u="none" cap="none" strike="noStrike">
                <a:solidFill>
                  <a:srgbClr val="000000"/>
                </a:solidFill>
                <a:latin typeface="Arial"/>
                <a:ea typeface="Arial"/>
                <a:cs typeface="Arial"/>
                <a:sym typeface="Arial"/>
              </a:rPr>
              <a:t> (suggests optimal game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Insight Explanation Agent</a:t>
            </a:r>
            <a:r>
              <a:rPr b="0" i="0" lang="en-US" sz="1400" u="none" cap="none" strike="noStrike">
                <a:solidFill>
                  <a:srgbClr val="000000"/>
                </a:solidFill>
                <a:latin typeface="Arial"/>
                <a:ea typeface="Arial"/>
                <a:cs typeface="Arial"/>
                <a:sym typeface="Arial"/>
              </a:rPr>
              <a:t> (converts complex analysis into actionable coaching advice)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 Show team formations, tactical comparisons, opponent weaknesses, and recommended strategies in a clear visual interface.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5"/>
          <p:cNvSpPr txBox="1"/>
          <p:nvPr/>
        </p:nvSpPr>
        <p:spPr>
          <a:xfrm>
            <a:off x="576072" y="1234440"/>
            <a:ext cx="1060704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AI-Powered Game Strategy Advisor Agent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proposed solution is a </a:t>
            </a:r>
            <a:r>
              <a:rPr b="1" i="0" lang="en-US" sz="1400" u="none" cap="none" strike="noStrike">
                <a:solidFill>
                  <a:srgbClr val="000000"/>
                </a:solidFill>
                <a:latin typeface="Arial"/>
                <a:ea typeface="Arial"/>
                <a:cs typeface="Arial"/>
                <a:sym typeface="Arial"/>
              </a:rPr>
              <a:t>multi-agent AI-powered Game Strategy Advisor Agent</a:t>
            </a:r>
            <a:r>
              <a:rPr b="0" i="0" lang="en-US" sz="1400" u="none" cap="none" strike="noStrike">
                <a:solidFill>
                  <a:srgbClr val="000000"/>
                </a:solidFill>
                <a:latin typeface="Arial"/>
                <a:ea typeface="Arial"/>
                <a:cs typeface="Arial"/>
                <a:sym typeface="Arial"/>
              </a:rPr>
              <a:t> built using </a:t>
            </a:r>
            <a:r>
              <a:rPr b="1" i="0" lang="en-US" sz="1400" u="none" cap="none" strike="noStrike">
                <a:solidFill>
                  <a:srgbClr val="000000"/>
                </a:solidFill>
                <a:latin typeface="Arial"/>
                <a:ea typeface="Arial"/>
                <a:cs typeface="Arial"/>
                <a:sym typeface="Arial"/>
              </a:rPr>
              <a:t>LangFlow</a:t>
            </a: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IBM watsonx.ai, and Granite Models</a:t>
            </a:r>
            <a:r>
              <a:rPr b="0" i="0" lang="en-US" sz="1400" u="none" cap="none" strike="noStrike">
                <a:solidFill>
                  <a:srgbClr val="000000"/>
                </a:solidFill>
                <a:latin typeface="Arial"/>
                <a:ea typeface="Arial"/>
                <a:cs typeface="Arial"/>
                <a:sym typeface="Arial"/>
              </a:rPr>
              <a:t> to give coaches and analysts fast, data-driven tactical recommendations. The system addresses the manual effort in match analysis, opponent scouting, and tactical planning through an intelligent, modular architecture.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its core, the solution uses a </a:t>
            </a:r>
            <a:r>
              <a:rPr b="1" i="0" lang="en-US" sz="1400" u="none" cap="none" strike="noStrike">
                <a:solidFill>
                  <a:srgbClr val="000000"/>
                </a:solidFill>
                <a:latin typeface="Arial"/>
                <a:ea typeface="Arial"/>
                <a:cs typeface="Arial"/>
                <a:sym typeface="Arial"/>
              </a:rPr>
              <a:t>Retrieval-Augmented Generation (RAG)</a:t>
            </a:r>
            <a:r>
              <a:rPr b="0" i="0" lang="en-US" sz="1400" u="none" cap="none" strike="noStrike">
                <a:solidFill>
                  <a:srgbClr val="000000"/>
                </a:solidFill>
                <a:latin typeface="Arial"/>
                <a:ea typeface="Arial"/>
                <a:cs typeface="Arial"/>
                <a:sym typeface="Arial"/>
              </a:rPr>
              <a:t> pipeline to fetch historical match records, team formations, and tactical patterns from a structured match database. This data is embedded and stored in a vector database, enabling the system to retrieve and summarize relevant tactical precedents using Granite models.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system consists of four key agents: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Match Analysis Agent</a:t>
            </a:r>
            <a:r>
              <a:rPr b="0" i="0" lang="en-US" sz="1400" u="none" cap="none" strike="noStrike">
                <a:solidFill>
                  <a:srgbClr val="000000"/>
                </a:solidFill>
                <a:latin typeface="Arial"/>
                <a:ea typeface="Arial"/>
                <a:cs typeface="Arial"/>
                <a:sym typeface="Arial"/>
              </a:rPr>
              <a:t> retrieves and analyzes historical gameplay data using RAG.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Opponent Strategy Agent</a:t>
            </a:r>
            <a:r>
              <a:rPr b="0" i="0" lang="en-US" sz="1400" u="none" cap="none" strike="noStrike">
                <a:solidFill>
                  <a:srgbClr val="000000"/>
                </a:solidFill>
                <a:latin typeface="Arial"/>
                <a:ea typeface="Arial"/>
                <a:cs typeface="Arial"/>
                <a:sym typeface="Arial"/>
              </a:rPr>
              <a:t> identifies patterns in opponent play styles, strengths, and weaknesses.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Strategy Recommendation Agent</a:t>
            </a:r>
            <a:r>
              <a:rPr b="0" i="0" lang="en-US" sz="1400" u="none" cap="none" strike="noStrike">
                <a:solidFill>
                  <a:srgbClr val="000000"/>
                </a:solidFill>
                <a:latin typeface="Arial"/>
                <a:ea typeface="Arial"/>
                <a:cs typeface="Arial"/>
                <a:sym typeface="Arial"/>
              </a:rPr>
              <a:t> suggests optimal formations, defensive setups, and attacking tactics.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Insight Explanation Agent</a:t>
            </a:r>
            <a:r>
              <a:rPr b="0" i="0" lang="en-US" sz="1400" u="none" cap="none" strike="noStrike">
                <a:solidFill>
                  <a:srgbClr val="000000"/>
                </a:solidFill>
                <a:latin typeface="Arial"/>
                <a:ea typeface="Arial"/>
                <a:cs typeface="Arial"/>
                <a:sym typeface="Arial"/>
              </a:rPr>
              <a:t> converts complex tactical analysis into clear, actionable coaching advice.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solution includes a </a:t>
            </a: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(built with </a:t>
            </a:r>
            <a:r>
              <a:rPr b="1" i="0" lang="en-US" sz="1400" u="none" cap="none" strike="noStrike">
                <a:solidFill>
                  <a:srgbClr val="000000"/>
                </a:solidFill>
                <a:latin typeface="Arial"/>
                <a:ea typeface="Arial"/>
                <a:cs typeface="Arial"/>
                <a:sym typeface="Arial"/>
              </a:rPr>
              <a:t>Streamlit</a:t>
            </a:r>
            <a:r>
              <a:rPr b="0" i="0" lang="en-US" sz="1400" u="none" cap="none" strike="noStrike">
                <a:solidFill>
                  <a:srgbClr val="000000"/>
                </a:solidFill>
                <a:latin typeface="Arial"/>
                <a:ea typeface="Arial"/>
                <a:cs typeface="Arial"/>
                <a:sym typeface="Arial"/>
              </a:rPr>
              <a:t> or React) that displays team formations, tactical comparisons, opponent weaknesses, and recommended strategies in a clear visual interface.</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LangFlow</a:t>
            </a:r>
            <a:r>
              <a:rPr b="0" i="0" lang="en-US" sz="1400" u="none" cap="none" strike="noStrike">
                <a:solidFill>
                  <a:srgbClr val="000000"/>
                </a:solidFill>
                <a:latin typeface="Arial"/>
                <a:ea typeface="Arial"/>
                <a:cs typeface="Arial"/>
                <a:sym typeface="Arial"/>
              </a:rPr>
              <a:t> is used to orchestrate agent workflows, while watsonx.ai ensures scalable model deployment, embeddings, and AI governance. Granite models power reasoning, pattern detection, and tactical recommendation.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this solution delivers an </a:t>
            </a:r>
            <a:r>
              <a:rPr b="1" i="0" lang="en-US" sz="1400" u="none" cap="none" strike="noStrike">
                <a:solidFill>
                  <a:srgbClr val="000000"/>
                </a:solidFill>
                <a:latin typeface="Arial"/>
                <a:ea typeface="Arial"/>
                <a:cs typeface="Arial"/>
                <a:sym typeface="Arial"/>
              </a:rPr>
              <a:t>end-to-end intelligent strategy assistant</a:t>
            </a:r>
            <a:r>
              <a:rPr b="0" i="0" lang="en-US" sz="1400" u="none" cap="none" strike="noStrike">
                <a:solidFill>
                  <a:srgbClr val="000000"/>
                </a:solidFill>
                <a:latin typeface="Arial"/>
                <a:ea typeface="Arial"/>
                <a:cs typeface="Arial"/>
                <a:sym typeface="Arial"/>
              </a:rPr>
              <a:t> that helps coaching staff make faster, more informed tactical decisions before and during matches.</a:t>
            </a:r>
            <a:endParaRPr/>
          </a:p>
        </p:txBody>
      </p:sp>
      <p:sp>
        <p:nvSpPr>
          <p:cNvPr id="102" name="Google Shape;102;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Langflow platform </a:t>
            </a:r>
            <a:r>
              <a:rPr b="0" i="0" lang="en-US" sz="1800" u="none" cap="none" strike="noStrike">
                <a:solidFill>
                  <a:srgbClr val="000000"/>
                </a:solidFill>
                <a:latin typeface="Arial"/>
                <a:ea typeface="Arial"/>
                <a:cs typeface="Arial"/>
                <a:sym typeface="Arial"/>
              </a:rPr>
              <a:t>-For designing and orchestrating multi-agent workflows visually</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Granite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Game Strategy Advisor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Game Strategy Advisor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Game Strategy Advisor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retrieval of match, formation, and tactical data</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component Used -</a:t>
            </a:r>
            <a:endParaRPr b="1" i="0" sz="2400" u="none" cap="none" strike="noStrik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00" cy="569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1) Chat Input </a:t>
            </a:r>
            <a:r>
              <a:rPr b="0" i="0" lang="en-US" sz="1400" u="none" cap="none" strike="noStrike">
                <a:solidFill>
                  <a:srgbClr val="000000"/>
                </a:solidFill>
                <a:latin typeface="Arial"/>
                <a:ea typeface="Arial"/>
                <a:cs typeface="Arial"/>
                <a:sym typeface="Arial"/>
              </a:rPr>
              <a:t>– Interface where coaches or analysts enter queries about matches, opponents, or tactical needs.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2) IBM watsonx AI Agent </a:t>
            </a:r>
            <a:r>
              <a:rPr b="0" i="0" lang="en-US" sz="1400" u="none" cap="none" strike="noStrike">
                <a:solidFill>
                  <a:srgbClr val="000000"/>
                </a:solidFill>
                <a:latin typeface="Arial"/>
                <a:ea typeface="Arial"/>
                <a:cs typeface="Arial"/>
                <a:sym typeface="Arial"/>
              </a:rPr>
              <a:t>- Processes input using Granite models to generate tactical insights and strategy recommendations.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3) Name of IBM Granite model - </a:t>
            </a:r>
            <a:r>
              <a:rPr b="0" i="0" lang="en-US" sz="1400" u="none" cap="none" strike="noStrike">
                <a:solidFill>
                  <a:srgbClr val="000000"/>
                </a:solidFill>
                <a:latin typeface="Arial"/>
                <a:ea typeface="Arial"/>
                <a:cs typeface="Arial"/>
                <a:sym typeface="Arial"/>
              </a:rPr>
              <a:t>Granite-4.0-8B-Instruct → Fast, efficient for real-time strategy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4) Chat output -</a:t>
            </a:r>
            <a:r>
              <a:rPr b="0" i="0" lang="en-US" sz="1400" u="none" cap="none" strike="noStrike">
                <a:solidFill>
                  <a:srgbClr val="000000"/>
                </a:solidFill>
                <a:latin typeface="Arial"/>
                <a:ea typeface="Arial"/>
                <a:cs typeface="Arial"/>
                <a:sym typeface="Arial"/>
              </a:rPr>
              <a:t>Displays AI-generated responses such as recommended formations, tactical analysis, and coaching advice.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5)</a:t>
            </a:r>
            <a:r>
              <a:rPr b="1" i="0" lang="en-US" sz="1400" u="none" cap="none" strike="noStrike">
                <a:solidFill>
                  <a:srgbClr val="000000"/>
                </a:solidFill>
                <a:highlight>
                  <a:schemeClr val="lt1"/>
                </a:highlight>
                <a:latin typeface="Arial"/>
                <a:ea typeface="Arial"/>
                <a:cs typeface="Arial"/>
                <a:sym typeface="Arial"/>
              </a:rPr>
              <a:t> </a:t>
            </a:r>
            <a:r>
              <a:rPr b="1" i="0" lang="en-US" sz="1400" u="none" cap="none" strike="noStrike">
                <a:solidFill>
                  <a:srgbClr val="000000"/>
                </a:solidFill>
                <a:highlight>
                  <a:schemeClr val="lt1"/>
                </a:highlight>
                <a:latin typeface="Arial"/>
                <a:ea typeface="Arial"/>
                <a:cs typeface="Arial"/>
                <a:sym typeface="Arial"/>
              </a:rPr>
              <a:t>File component - </a:t>
            </a:r>
            <a:r>
              <a:rPr b="0" i="0" lang="en-US" sz="1400" u="none" cap="none" strike="noStrike">
                <a:solidFill>
                  <a:srgbClr val="000000"/>
                </a:solidFill>
                <a:highlight>
                  <a:schemeClr val="lt1"/>
                </a:highlight>
                <a:latin typeface="Arial"/>
                <a:ea typeface="Arial"/>
                <a:cs typeface="Arial"/>
                <a:sym typeface="Arial"/>
              </a:rPr>
              <a:t>Stores and retrieves match records, formations, and opponent data for analysis and tracking.</a:t>
            </a:r>
            <a:endParaRPr>
              <a:highlight>
                <a:schemeClr val="lt1"/>
              </a:highlight>
            </a:endParaRPr>
          </a:p>
          <a:p>
            <a:pPr indent="0" lvl="0" marL="0" marR="0" rtl="0" algn="l">
              <a:lnSpc>
                <a:spcPct val="100000"/>
              </a:lnSpc>
              <a:spcBef>
                <a:spcPts val="0"/>
              </a:spcBef>
              <a:spcAft>
                <a:spcPts val="0"/>
              </a:spcAft>
              <a:buNone/>
            </a:pPr>
            <a:r>
              <a:t/>
            </a:r>
            <a:endParaRPr b="0" i="0" sz="1400" u="none" cap="none" strike="noStrike">
              <a:solidFill>
                <a:srgbClr val="000000"/>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highlight>
                  <a:schemeClr val="lt1"/>
                </a:highlight>
                <a:latin typeface="Arial"/>
                <a:ea typeface="Arial"/>
                <a:cs typeface="Arial"/>
                <a:sym typeface="Arial"/>
              </a:rPr>
              <a:t>6) Vector Store component – For storing and retrieving embedded match and tactical data (RAG).</a:t>
            </a:r>
            <a:endParaRPr>
              <a:highlight>
                <a:schemeClr val="lt1"/>
              </a:highlight>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9"/>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26" name="Google Shape;126;p9"/>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27" name="Google Shape;127;p9"/>
          <p:cNvSpPr txBox="1"/>
          <p:nvPr/>
        </p:nvSpPr>
        <p:spPr>
          <a:xfrm>
            <a:off x="621792" y="1167493"/>
            <a:ext cx="7406640"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Role of Agentic AI in the Game Strategy Advisor Agent</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Agentic AI</a:t>
            </a:r>
            <a:r>
              <a:rPr b="0" i="0" lang="en-US" sz="1400" u="none" cap="none" strike="noStrike">
                <a:solidFill>
                  <a:srgbClr val="000000"/>
                </a:solidFill>
                <a:latin typeface="Arial"/>
                <a:ea typeface="Arial"/>
                <a:cs typeface="Arial"/>
                <a:sym typeface="Arial"/>
              </a:rPr>
              <a:t> enables the Game Strategy Advisor Agent to function as an intelligent, autonomous system rather than a simple chatbot. Using </a:t>
            </a:r>
            <a:r>
              <a:rPr b="1" i="0" lang="en-US" sz="1400" u="none" cap="none" strike="noStrike">
                <a:solidFill>
                  <a:srgbClr val="000000"/>
                </a:solidFill>
                <a:latin typeface="Arial"/>
                <a:ea typeface="Arial"/>
                <a:cs typeface="Arial"/>
                <a:sym typeface="Arial"/>
              </a:rPr>
              <a:t>IBM watsonx.ai</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IBM Granite models</a:t>
            </a:r>
            <a:r>
              <a:rPr b="0" i="0" lang="en-US" sz="1400" u="none" cap="none" strike="noStrike">
                <a:solidFill>
                  <a:srgbClr val="000000"/>
                </a:solidFill>
                <a:latin typeface="Arial"/>
                <a:ea typeface="Arial"/>
                <a:cs typeface="Arial"/>
                <a:sym typeface="Arial"/>
              </a:rPr>
              <a:t>, it coordinates multiple specialized agents to deliver data-driven tactical guidance.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Each agent performs a specific role—such as retrieving match data, analyzing opponent tactics, generating strategy recommendations, and explaining insights—while working collaboratively. This </a:t>
            </a:r>
            <a:r>
              <a:rPr b="1" i="0" lang="en-US" sz="1400" u="none" cap="none" strike="noStrike">
                <a:solidFill>
                  <a:srgbClr val="000000"/>
                </a:solidFill>
                <a:latin typeface="Arial"/>
                <a:ea typeface="Arial"/>
                <a:cs typeface="Arial"/>
                <a:sym typeface="Arial"/>
              </a:rPr>
              <a:t>multi-agent approach</a:t>
            </a:r>
            <a:r>
              <a:rPr b="0" i="0" lang="en-US" sz="1400" u="none" cap="none" strike="noStrike">
                <a:solidFill>
                  <a:srgbClr val="000000"/>
                </a:solidFill>
                <a:latin typeface="Arial"/>
                <a:ea typeface="Arial"/>
                <a:cs typeface="Arial"/>
                <a:sym typeface="Arial"/>
              </a:rPr>
              <a:t> ensures efficient task execution and accurate results.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Agentic AI also brings </a:t>
            </a:r>
            <a:r>
              <a:rPr b="1" i="0" lang="en-US" sz="1400" u="none" cap="none" strike="noStrike">
                <a:solidFill>
                  <a:srgbClr val="000000"/>
                </a:solidFill>
                <a:latin typeface="Arial"/>
                <a:ea typeface="Arial"/>
                <a:cs typeface="Arial"/>
                <a:sym typeface="Arial"/>
              </a:rPr>
              <a:t>context awareness</a:t>
            </a:r>
            <a:r>
              <a:rPr b="0" i="0" lang="en-US" sz="1400" u="none" cap="none" strike="noStrike">
                <a:solidFill>
                  <a:srgbClr val="000000"/>
                </a:solidFill>
                <a:latin typeface="Arial"/>
                <a:ea typeface="Arial"/>
                <a:cs typeface="Arial"/>
                <a:sym typeface="Arial"/>
              </a:rPr>
              <a:t>, understanding context such as team formations, opponent tendencies, and match conditions to generate tailored recommendations. It supports </a:t>
            </a:r>
            <a:r>
              <a:rPr b="1" i="0" lang="en-US" sz="1400" u="none" cap="none" strike="noStrike">
                <a:solidFill>
                  <a:srgbClr val="000000"/>
                </a:solidFill>
                <a:latin typeface="Arial"/>
                <a:ea typeface="Arial"/>
                <a:cs typeface="Arial"/>
                <a:sym typeface="Arial"/>
              </a:rPr>
              <a:t>real-time adaptation</a:t>
            </a:r>
            <a:r>
              <a:rPr b="0" i="0" lang="en-US" sz="1400" u="none" cap="none" strike="noStrike">
                <a:solidFill>
                  <a:srgbClr val="000000"/>
                </a:solidFill>
                <a:latin typeface="Arial"/>
                <a:ea typeface="Arial"/>
                <a:cs typeface="Arial"/>
                <a:sym typeface="Arial"/>
              </a:rPr>
              <a:t>, continuously updating recommendations based on live match data and evolving opponent behavior.</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Additionally, agents communicate with each other, enabling better decision-making and improved outcomes.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Agentic AI makes the system proactive, context-aware, and goal-driven, acting like a </a:t>
            </a:r>
            <a:r>
              <a:rPr b="1" i="0" lang="en-US" sz="1400" u="none" cap="none" strike="noStrike">
                <a:solidFill>
                  <a:srgbClr val="000000"/>
                </a:solidFill>
                <a:latin typeface="Arial"/>
                <a:ea typeface="Arial"/>
                <a:cs typeface="Arial"/>
                <a:sym typeface="Arial"/>
              </a:rPr>
              <a:t>smart digital strategy coach</a:t>
            </a:r>
            <a:r>
              <a:rPr b="0" i="0" lang="en-US" sz="1400" u="none" cap="none" strike="noStrike">
                <a:solidFill>
                  <a:srgbClr val="000000"/>
                </a:solidFill>
                <a:latin typeface="Arial"/>
                <a:ea typeface="Arial"/>
                <a:cs typeface="Arial"/>
                <a:sym typeface="Arial"/>
              </a:rPr>
              <a:t> that helps coaching staff make faster, better-informed tactical decisions.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0"/>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33" name="Google Shape;133;p40"/>
          <p:cNvSpPr txBox="1"/>
          <p:nvPr/>
        </p:nvSpPr>
        <p:spPr>
          <a:xfrm>
            <a:off x="777240" y="1207008"/>
            <a:ext cx="11301984" cy="52937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proposed Game Strategy Advisor Agent stands out by combining </a:t>
            </a:r>
            <a:r>
              <a:rPr b="1" i="0" lang="en-US" sz="1800" u="none" cap="none" strike="noStrike">
                <a:solidFill>
                  <a:srgbClr val="000000"/>
                </a:solidFill>
                <a:latin typeface="Arial"/>
                <a:ea typeface="Arial"/>
                <a:cs typeface="Arial"/>
                <a:sym typeface="Arial"/>
              </a:rPr>
              <a:t>Agentic AI, RAG, and personalization</a:t>
            </a:r>
            <a:r>
              <a:rPr b="0" i="0" lang="en-US" sz="1800" u="none" cap="none" strike="noStrike">
                <a:solidFill>
                  <a:srgbClr val="000000"/>
                </a:solidFill>
                <a:latin typeface="Arial"/>
                <a:ea typeface="Arial"/>
                <a:cs typeface="Arial"/>
                <a:sym typeface="Arial"/>
              </a:rPr>
              <a:t> into a single intelligent tactical system.</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Multi-Agent Intelligence</a:t>
            </a:r>
            <a:r>
              <a:rPr b="0" i="0" lang="en-US" sz="1800" u="none" cap="none" strike="noStrike">
                <a:solidFill>
                  <a:srgbClr val="000000"/>
                </a:solidFill>
                <a:latin typeface="Arial"/>
                <a:ea typeface="Arial"/>
                <a:cs typeface="Arial"/>
                <a:sym typeface="Arial"/>
              </a:rPr>
              <a:t> – Instead of a single chatbot, multiple specialized agents collaborate to deliver accurate and context-aware tactical guidance.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RAG-Based Accuracy</a:t>
            </a:r>
            <a:r>
              <a:rPr b="0" i="0" lang="en-US" sz="1800" u="none" cap="none" strike="noStrike">
                <a:solidFill>
                  <a:srgbClr val="000000"/>
                </a:solidFill>
                <a:latin typeface="Arial"/>
                <a:ea typeface="Arial"/>
                <a:cs typeface="Arial"/>
                <a:sym typeface="Arial"/>
              </a:rPr>
              <a:t> – Integrates real-time match data retrieval with AI generation, reducing guesswork and ensuring trustworthy strategy recommendations.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Team-Specific Personalization</a:t>
            </a:r>
            <a:r>
              <a:rPr b="0" i="0" lang="en-US" sz="1800" u="none" cap="none" strike="noStrike">
                <a:solidFill>
                  <a:srgbClr val="000000"/>
                </a:solidFill>
                <a:latin typeface="Arial"/>
                <a:ea typeface="Arial"/>
                <a:cs typeface="Arial"/>
                <a:sym typeface="Arial"/>
              </a:rPr>
              <a:t> – Tailors recommendations based on team strengths, player roster, and opponent tendencies.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Real-Time Feedback Loop</a:t>
            </a:r>
            <a:r>
              <a:rPr b="0" i="0" lang="en-US" sz="1800" u="none" cap="none" strike="noStrike">
                <a:solidFill>
                  <a:srgbClr val="000000"/>
                </a:solidFill>
                <a:latin typeface="Arial"/>
                <a:ea typeface="Arial"/>
                <a:cs typeface="Arial"/>
                <a:sym typeface="Arial"/>
              </a:rPr>
              <a:t> – Continuously adapts recommendations based on live match data and opponent behavior.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Multi-Modal Input</a:t>
            </a:r>
            <a:r>
              <a:rPr b="0" i="0" lang="en-US" sz="1800" u="none" cap="none" strike="noStrike">
                <a:solidFill>
                  <a:srgbClr val="000000"/>
                </a:solidFill>
                <a:latin typeface="Arial"/>
                <a:ea typeface="Arial"/>
                <a:cs typeface="Arial"/>
                <a:sym typeface="Arial"/>
              </a:rPr>
              <a:t> – Supports text and data-based match input for better usability during and between games.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Pre- and In-Match Focus</a:t>
            </a:r>
            <a:r>
              <a:rPr b="0" i="0" lang="en-US" sz="1800" u="none" cap="none" strike="noStrike">
                <a:solidFill>
                  <a:srgbClr val="000000"/>
                </a:solidFill>
                <a:latin typeface="Arial"/>
                <a:ea typeface="Arial"/>
                <a:cs typeface="Arial"/>
                <a:sym typeface="Arial"/>
              </a:rPr>
              <a:t> – Goes beyond post-match review to provide actionable insights before and during matches.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Scalable &amp; Enterprise-Ready</a:t>
            </a:r>
            <a:r>
              <a:rPr b="0" i="0" lang="en-US" sz="1800" u="none" cap="none" strike="noStrike">
                <a:solidFill>
                  <a:srgbClr val="000000"/>
                </a:solidFill>
                <a:latin typeface="Arial"/>
                <a:ea typeface="Arial"/>
                <a:cs typeface="Arial"/>
                <a:sym typeface="Arial"/>
              </a:rPr>
              <a:t> – Built on </a:t>
            </a:r>
            <a:r>
              <a:rPr b="1" i="0" lang="en-US" sz="1800" u="none" cap="none" strike="noStrike">
                <a:solidFill>
                  <a:srgbClr val="000000"/>
                </a:solidFill>
                <a:latin typeface="Arial"/>
                <a:ea typeface="Arial"/>
                <a:cs typeface="Arial"/>
                <a:sym typeface="Arial"/>
              </a:rPr>
              <a:t>IBM watsonx.ai</a:t>
            </a:r>
            <a:r>
              <a:rPr b="0" i="0" lang="en-US" sz="1800" u="none" cap="none" strike="noStrike">
                <a:solidFill>
                  <a:srgbClr val="000000"/>
                </a:solidFill>
                <a:latin typeface="Arial"/>
                <a:ea typeface="Arial"/>
                <a:cs typeface="Arial"/>
                <a:sym typeface="Arial"/>
              </a:rPr>
              <a:t> with </a:t>
            </a:r>
            <a:r>
              <a:rPr b="1" i="0" lang="en-US" sz="1800" u="none" cap="none" strike="noStrike">
                <a:solidFill>
                  <a:srgbClr val="000000"/>
                </a:solidFill>
                <a:latin typeface="Arial"/>
                <a:ea typeface="Arial"/>
                <a:cs typeface="Arial"/>
                <a:sym typeface="Arial"/>
              </a:rPr>
              <a:t>IBM Granite models</a:t>
            </a:r>
            <a:r>
              <a:rPr b="0" i="0" lang="en-US" sz="1800" u="none" cap="none" strike="noStrike">
                <a:solidFill>
                  <a:srgbClr val="000000"/>
                </a:solidFill>
                <a:latin typeface="Arial"/>
                <a:ea typeface="Arial"/>
                <a:cs typeface="Arial"/>
                <a:sym typeface="Arial"/>
              </a:rPr>
              <a:t>, ensuring reliability and governance.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This makes the solution a </a:t>
            </a:r>
            <a:r>
              <a:rPr b="1" i="0" lang="en-US" sz="1800" u="none" cap="none" strike="noStrike">
                <a:solidFill>
                  <a:srgbClr val="000000"/>
                </a:solidFill>
                <a:latin typeface="Arial"/>
                <a:ea typeface="Arial"/>
                <a:cs typeface="Arial"/>
                <a:sym typeface="Arial"/>
              </a:rPr>
              <a:t>smart, adaptive, and proactive digital strategy coach</a:t>
            </a:r>
            <a:r>
              <a:rPr b="0" i="0" lang="en-US" sz="1800" u="none" cap="none" strike="noStrike">
                <a:solidFill>
                  <a:srgbClr val="000000"/>
                </a:solidFill>
                <a:latin typeface="Arial"/>
                <a:ea typeface="Arial"/>
                <a:cs typeface="Arial"/>
                <a:sym typeface="Arial"/>
              </a:rPr>
              <a:t>, not just a static match-reporting 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39" name="Google Shape;139;p41"/>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2050">
                <a:solidFill>
                  <a:srgbClr val="2B3541"/>
                </a:solidFill>
                <a:latin typeface="Times New Roman"/>
                <a:ea typeface="Times New Roman"/>
                <a:cs typeface="Times New Roman"/>
                <a:sym typeface="Times New Roman"/>
              </a:rPr>
              <a:t>Git Hub URL : https://github.com/HetDave007/The-AI-Game-Strategy-Advisor-Agent/tree/main/game-strategy-advisor</a:t>
            </a:r>
            <a:endParaRPr b="0" i="0" sz="2250" u="none" cap="none" strike="noStrike">
              <a:solidFill>
                <a:srgbClr val="000000"/>
              </a:solidFill>
              <a:latin typeface="Times New Roman"/>
              <a:ea typeface="Times New Roman"/>
              <a:cs typeface="Times New Roman"/>
              <a:sym typeface="Times New Roman"/>
            </a:endParaRPr>
          </a:p>
        </p:txBody>
      </p:sp>
      <p:sp>
        <p:nvSpPr>
          <p:cNvPr id="140" name="Google Shape;140;p41"/>
          <p:cNvSpPr/>
          <p:nvPr/>
        </p:nvSpPr>
        <p:spPr>
          <a:xfrm>
            <a:off x="1130524" y="3360191"/>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1" name="Google Shape;141;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2" name="Google Shape;142;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48" name="Google Shape;148;p42"/>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 &amp; Player-Tracking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GPS trackers and wearable sensors to collect real-time player data such as speed, positioning, fatigue, and heart rate. This will enable the Game Strategy Advisor Agent to provide more accurate and dynamic tactical recommendations based on actual player performance during a match.</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for coaching staff. Coaches can interact naturally in their preferred language, making the solution more inclusive and suitable for diverse teams and regions.</a:t>
            </a:r>
            <a:endParaRPr b="0" i="0" sz="1850" u="none" cap="none" strike="noStrike">
              <a:solidFill>
                <a:srgbClr val="000000"/>
              </a:solidFill>
              <a:latin typeface="Times New Roman"/>
              <a:ea typeface="Times New Roman"/>
              <a:cs typeface="Times New Roman"/>
              <a:sym typeface="Times New Roman"/>
            </a:endParaRPr>
          </a:p>
        </p:txBody>
      </p:sp>
      <p:sp>
        <p:nvSpPr>
          <p:cNvPr id="149" name="Google Shape;149;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0" name="Google Shape;150;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1" name="Google Shape;151;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43"/>
          <p:cNvSpPr txBox="1"/>
          <p:nvPr/>
        </p:nvSpPr>
        <p:spPr>
          <a:xfrm>
            <a:off x="552048" y="690061"/>
            <a:ext cx="63899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Please  add your credly certificate </a:t>
            </a:r>
            <a:endParaRPr/>
          </a:p>
        </p:txBody>
      </p:sp>
      <p:pic>
        <p:nvPicPr>
          <p:cNvPr id="158" name="Google Shape;158;p43"/>
          <p:cNvPicPr preferRelativeResize="0"/>
          <p:nvPr/>
        </p:nvPicPr>
        <p:blipFill>
          <a:blip r:embed="rId3">
            <a:alphaModFix/>
          </a:blip>
          <a:stretch>
            <a:fillRect/>
          </a:stretch>
        </p:blipFill>
        <p:spPr>
          <a:xfrm>
            <a:off x="2790825" y="1295131"/>
            <a:ext cx="6610350" cy="4867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44"/>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Add your IBM BOB Certificate</a:t>
            </a:r>
            <a:endParaRPr/>
          </a:p>
        </p:txBody>
      </p:sp>
      <p:pic>
        <p:nvPicPr>
          <p:cNvPr id="165" name="Google Shape;165;p44"/>
          <p:cNvPicPr preferRelativeResize="0"/>
          <p:nvPr/>
        </p:nvPicPr>
        <p:blipFill>
          <a:blip r:embed="rId3">
            <a:alphaModFix/>
          </a:blip>
          <a:stretch>
            <a:fillRect/>
          </a:stretch>
        </p:blipFill>
        <p:spPr>
          <a:xfrm>
            <a:off x="2133600" y="1606255"/>
            <a:ext cx="7924800" cy="4905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